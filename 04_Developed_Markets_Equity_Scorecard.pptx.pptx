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373EF-6160-48EB-A118-C957595F1C1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9DDE1-1949-4248-9FCC-2AA33984DF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56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49DDE1-1949-4248-9FCC-2AA33984DF2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364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66C4F-7CA2-96D4-6227-AEC82EC03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A7211-E458-CB8E-DEE7-CF4AC1ECB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DC390-3FBB-EAF3-273D-8FF0061FA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C237-C59E-450C-9AC2-59DFA4651DD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7BA3B-CD69-39F8-FE78-751C046C3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0A8A6-A7E3-B0FC-AAB9-995BB219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D836-A7E2-4FD2-944C-7F7AC5FA0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206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26AE-E519-24B1-A3F4-50EC4BC5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DB3B2-D421-AC43-30C0-994853EF0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7184B-4161-EED5-C757-269F25349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C237-C59E-450C-9AC2-59DFA4651DD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A83E5-A202-3B58-01E1-10008DCB0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695DB-2B93-C80B-8369-07EECB9F5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D836-A7E2-4FD2-944C-7F7AC5FA0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13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775FE-DFA6-236B-833A-69A68718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34F01-FC8F-DDE8-FD43-174C1DF76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A09B3-4588-9694-02D3-87357A554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C237-C59E-450C-9AC2-59DFA4651DD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DF882-5458-9B8F-39E0-CE6C9010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96ABE-6ABD-19E9-C4D7-74E36E3D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D836-A7E2-4FD2-944C-7F7AC5FA0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99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BF46-A34F-1FCD-793C-249B297EE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43146-FC75-0282-E4C2-85D6309F7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0C6AA-94D2-C675-B4F8-4C0BF42F5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A8C69-F0DD-D2A7-416B-BFBD780CA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C237-C59E-450C-9AC2-59DFA4651DD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AED8F-B456-8E7A-27E9-51EE80C70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6ABD6-83B4-1497-F9CC-8B0555FD4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D836-A7E2-4FD2-944C-7F7AC5FA0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97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C717-AB13-DAD6-119C-E09D2910B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2E11C-9538-BAB0-73F4-C13D6B534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0350F-115E-174E-4A25-276BAA94C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BE6C7B-D01F-CE54-77B1-CE5B3974A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8071A5-6062-8133-E6DD-0E978E326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B87069-643A-EF97-B320-D257BE8C4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C237-C59E-450C-9AC2-59DFA4651DD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788085-2636-2D31-CAEF-FDFFF170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EC9A56-440A-B04C-97D3-DEF22414A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D836-A7E2-4FD2-944C-7F7AC5FA0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776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D6656-670A-D2FA-1DF4-998B99662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D37BB4-5D9C-BB1A-0431-C17350F3E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C237-C59E-450C-9AC2-59DFA4651DD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6712F-94EA-DE1F-6C7B-FFBFC6AD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11C8B-7917-7491-5DBF-006B64E0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D836-A7E2-4FD2-944C-7F7AC5FA0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639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636992-51A5-CE64-0D56-9239E3399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C237-C59E-450C-9AC2-59DFA4651DD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0F66B5-00C4-12B0-1EF4-9508D597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950DF-7777-F44F-946E-1B4095A1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D836-A7E2-4FD2-944C-7F7AC5FA0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403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88BF2-3AB1-CA55-7A91-1B6B8235B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BA51B-2567-0018-9EB9-0D9514DC6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6CE51-904A-CAF0-32D8-C6BE711F4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09E5E-800B-6AD6-65F4-8DDA278DF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C237-C59E-450C-9AC2-59DFA4651DD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D7FEC-187A-02EA-36BD-48D4ACE8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A64BF-FADC-9FA1-D9D1-33FA1D0A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D836-A7E2-4FD2-944C-7F7AC5FA0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52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80F28-B191-DF17-BFAF-640934798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5311D5-C812-0F1D-3E46-E64834FB8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8AEFE-1394-14C8-D2CA-84A23412C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10068-BE23-15F8-56C8-EF23CD91D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C237-C59E-450C-9AC2-59DFA4651DD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0B6AD-256A-FF66-716D-451B45CD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29A2D-BD74-34EB-05DD-DE08D56B2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D836-A7E2-4FD2-944C-7F7AC5FA0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096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EABF-1AD7-58CE-5398-7D7A42F5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2B92A-1133-D6F3-DD87-5D42C64FC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D9968-CBA1-FDD7-53AA-418CDE05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C237-C59E-450C-9AC2-59DFA4651DD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98C47-E8D6-CA29-E3B8-2B3AFB95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75790-455B-E6E2-530D-0A5BB5F1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D836-A7E2-4FD2-944C-7F7AC5FA0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065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D54B17-6FD7-9DEF-A6D3-B35F07CFA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9D13C-8C1C-0BD5-1A11-AFCC8635A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7A760-75F3-7F45-C485-8A53ED06A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C237-C59E-450C-9AC2-59DFA4651DD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0CB84-5088-48E7-9C1A-C544746F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B7E83-F23A-C642-EECC-115847E3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ED836-A7E2-4FD2-944C-7F7AC5FA0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92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0AD215-8F86-0C6B-73F2-8FAF930B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21FCA-AB1F-808F-3234-60E929729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8F1D0-C623-932C-A02D-A27975290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C237-C59E-450C-9AC2-59DFA4651DD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9C745-B2D5-C4DB-F1A7-9DF75F4B7A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1886F-9B8C-C9C8-921A-BD03921A6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ED836-A7E2-4FD2-944C-7F7AC5FA0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102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0E344-BCF1-DC37-A7F9-4633900403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800" b="1" dirty="0">
                <a:latin typeface="Arial    "/>
              </a:rPr>
              <a:t>Developed Markets Equity Scorecard</a:t>
            </a:r>
            <a:br>
              <a:rPr lang="en-IN" sz="2800" b="1" dirty="0">
                <a:latin typeface="Arial    "/>
              </a:rPr>
            </a:br>
            <a:r>
              <a:rPr lang="en-IN" sz="1600" dirty="0">
                <a:latin typeface="Arial    "/>
              </a:rPr>
              <a:t>A Systematic Framework for 3 - 6 Month Relative Market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84C8A-323C-0489-91E7-73DE2CD8F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1400" dirty="0"/>
              <a:t>US | Eurozone | UK | Switzerland | Japan</a:t>
            </a:r>
          </a:p>
          <a:p>
            <a:pPr algn="l"/>
            <a:r>
              <a:rPr lang="en-US" sz="1200" dirty="0"/>
              <a:t>Data through 30 April 2026 | Prepared September 2026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64798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D9CBE4-88B8-85A5-569B-C0991DAF6BDE}"/>
              </a:ext>
            </a:extLst>
          </p:cNvPr>
          <p:cNvCxnSpPr/>
          <p:nvPr/>
        </p:nvCxnSpPr>
        <p:spPr>
          <a:xfrm>
            <a:off x="1901089" y="1869592"/>
            <a:ext cx="756073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BED0C21-4173-B876-850C-B9A4DF446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43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  "/>
              </a:rPr>
              <a:t>Developed Markets Scorecard</a:t>
            </a:r>
            <a:br>
              <a:rPr lang="en-IN" sz="2800" b="1" dirty="0">
                <a:latin typeface="Arial  "/>
              </a:rPr>
            </a:br>
            <a:r>
              <a:rPr lang="en-IN" sz="1400" i="1" dirty="0"/>
              <a:t>A systematic framework for relative 3-6 month equity performance</a:t>
            </a:r>
            <a:br>
              <a:rPr lang="en-IN" sz="1400" dirty="0"/>
            </a:br>
            <a:endParaRPr lang="en-IN" sz="1400" dirty="0">
              <a:latin typeface="Arial  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1E9686-DEF6-FEA5-49AC-87057843EFF5}"/>
              </a:ext>
            </a:extLst>
          </p:cNvPr>
          <p:cNvSpPr/>
          <p:nvPr/>
        </p:nvSpPr>
        <p:spPr>
          <a:xfrm>
            <a:off x="1824889" y="2057458"/>
            <a:ext cx="1591733" cy="330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30A961-9246-6E9B-165C-2343016F2BD4}"/>
              </a:ext>
            </a:extLst>
          </p:cNvPr>
          <p:cNvSpPr/>
          <p:nvPr/>
        </p:nvSpPr>
        <p:spPr>
          <a:xfrm>
            <a:off x="8047889" y="2057458"/>
            <a:ext cx="1591733" cy="330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Japan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42D1-BD11-151E-E824-3470F1019486}"/>
              </a:ext>
            </a:extLst>
          </p:cNvPr>
          <p:cNvSpPr/>
          <p:nvPr/>
        </p:nvSpPr>
        <p:spPr>
          <a:xfrm>
            <a:off x="6492139" y="2057458"/>
            <a:ext cx="1591733" cy="330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Switzerland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64D024-8671-A016-2C00-04385F71FC77}"/>
              </a:ext>
            </a:extLst>
          </p:cNvPr>
          <p:cNvSpPr/>
          <p:nvPr/>
        </p:nvSpPr>
        <p:spPr>
          <a:xfrm>
            <a:off x="3380639" y="2057458"/>
            <a:ext cx="1591733" cy="330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Eurozone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C9AF59-06C9-02FA-BA8C-07CA87D6F537}"/>
              </a:ext>
            </a:extLst>
          </p:cNvPr>
          <p:cNvSpPr/>
          <p:nvPr/>
        </p:nvSpPr>
        <p:spPr>
          <a:xfrm>
            <a:off x="4936389" y="2057458"/>
            <a:ext cx="1591733" cy="330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1B4A5F-B0FF-9AFB-537D-3AA37168343F}"/>
              </a:ext>
            </a:extLst>
          </p:cNvPr>
          <p:cNvSpPr txBox="1"/>
          <p:nvPr/>
        </p:nvSpPr>
        <p:spPr>
          <a:xfrm>
            <a:off x="4201444" y="1489149"/>
            <a:ext cx="3304110" cy="492443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IN" sz="1600" dirty="0"/>
              <a:t>Monthly synchronized data</a:t>
            </a:r>
          </a:p>
          <a:p>
            <a:pPr algn="ctr"/>
            <a:r>
              <a:rPr lang="en-IN" sz="1000" dirty="0"/>
              <a:t>245 common monthly observations | Dec-2005 to Apr-2026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83AA2EB-CA09-B02D-B8CF-541CD3B3C250}"/>
              </a:ext>
            </a:extLst>
          </p:cNvPr>
          <p:cNvSpPr/>
          <p:nvPr/>
        </p:nvSpPr>
        <p:spPr>
          <a:xfrm>
            <a:off x="838200" y="2791927"/>
            <a:ext cx="2286725" cy="27839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IN" sz="1200" b="1" dirty="0">
                <a:solidFill>
                  <a:schemeClr val="tx1"/>
                </a:solidFill>
              </a:rPr>
              <a:t>Indicator:</a:t>
            </a:r>
            <a:r>
              <a:rPr lang="en-IN" sz="1200" dirty="0">
                <a:solidFill>
                  <a:schemeClr val="tx1"/>
                </a:solidFill>
              </a:rPr>
              <a:t> PMI level</a:t>
            </a:r>
          </a:p>
          <a:p>
            <a:pPr lvl="0"/>
            <a:endParaRPr lang="en-IN" sz="1200" dirty="0">
              <a:solidFill>
                <a:schemeClr val="tx1"/>
              </a:solidFill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</a:rPr>
              <a:t>Economic rationale:</a:t>
            </a:r>
            <a:r>
              <a:rPr lang="en-IN" sz="1200" dirty="0">
                <a:solidFill>
                  <a:schemeClr val="tx1"/>
                </a:solidFill>
              </a:rPr>
              <a:t> Survey-based and published ahead of GDP; expansion phases typically precede earnings upgrades and stronger risk appetite.</a:t>
            </a:r>
          </a:p>
          <a:p>
            <a:pPr lvl="0"/>
            <a:endParaRPr lang="en-IN" sz="1200" dirty="0">
              <a:solidFill>
                <a:schemeClr val="tx1"/>
              </a:solidFill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</a:rPr>
              <a:t>Higher score =</a:t>
            </a:r>
            <a:r>
              <a:rPr lang="en-IN" sz="1200" dirty="0">
                <a:solidFill>
                  <a:schemeClr val="tx1"/>
                </a:solidFill>
              </a:rPr>
              <a:t> stronger expansion (favourable)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1C23881-5F1B-5583-FEAA-F963ED9D840D}"/>
              </a:ext>
            </a:extLst>
          </p:cNvPr>
          <p:cNvSpPr/>
          <p:nvPr/>
        </p:nvSpPr>
        <p:spPr>
          <a:xfrm>
            <a:off x="3349978" y="2791928"/>
            <a:ext cx="2286725" cy="2783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IN" sz="1200" b="1" dirty="0">
                <a:solidFill>
                  <a:schemeClr val="tx1"/>
                </a:solidFill>
              </a:rPr>
              <a:t>Indicator:</a:t>
            </a:r>
            <a:r>
              <a:rPr lang="en-IN" sz="1200" dirty="0">
                <a:solidFill>
                  <a:schemeClr val="tx1"/>
                </a:solidFill>
              </a:rPr>
              <a:t> 6-month consensus EPS growth</a:t>
            </a:r>
          </a:p>
          <a:p>
            <a:pPr lvl="0"/>
            <a:endParaRPr lang="en-IN" sz="1200" dirty="0">
              <a:solidFill>
                <a:schemeClr val="tx1"/>
              </a:solidFill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</a:rPr>
              <a:t>Economic rationale:</a:t>
            </a:r>
            <a:r>
              <a:rPr lang="en-IN" sz="1200" dirty="0">
                <a:solidFill>
                  <a:schemeClr val="tx1"/>
                </a:solidFill>
              </a:rPr>
              <a:t> Earnings anchor equity value. Faster earnings growth than peers supports relative price performance as fundamentals improve.</a:t>
            </a:r>
          </a:p>
          <a:p>
            <a:pPr lvl="0"/>
            <a:endParaRPr lang="en-IN" sz="1200" dirty="0">
              <a:solidFill>
                <a:schemeClr val="tx1"/>
              </a:solidFill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</a:rPr>
              <a:t>Higher score =</a:t>
            </a:r>
            <a:r>
              <a:rPr lang="en-IN" sz="1200" dirty="0">
                <a:solidFill>
                  <a:schemeClr val="tx1"/>
                </a:solidFill>
              </a:rPr>
              <a:t> faster earnings growth (favourable)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0BD0D4BC-D3EA-87FA-337A-CD9BE3B44198}"/>
              </a:ext>
            </a:extLst>
          </p:cNvPr>
          <p:cNvSpPr/>
          <p:nvPr/>
        </p:nvSpPr>
        <p:spPr>
          <a:xfrm>
            <a:off x="8373533" y="2791927"/>
            <a:ext cx="2286725" cy="27839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IN" sz="1200" b="1" dirty="0">
                <a:solidFill>
                  <a:schemeClr val="tx1"/>
                </a:solidFill>
              </a:rPr>
              <a:t>Indicator:</a:t>
            </a:r>
            <a:r>
              <a:rPr lang="en-IN" sz="1200" dirty="0">
                <a:solidFill>
                  <a:schemeClr val="tx1"/>
                </a:solidFill>
              </a:rPr>
              <a:t> 6-month return excluding the latest month, divided by 12-month realised volatility</a:t>
            </a:r>
          </a:p>
          <a:p>
            <a:pPr lvl="0"/>
            <a:endParaRPr lang="en-IN" sz="1200" dirty="0">
              <a:solidFill>
                <a:schemeClr val="tx1"/>
              </a:solidFill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</a:rPr>
              <a:t>Economic rationale:</a:t>
            </a:r>
            <a:r>
              <a:rPr lang="en-IN" sz="1200" dirty="0">
                <a:solidFill>
                  <a:schemeClr val="tx1"/>
                </a:solidFill>
              </a:rPr>
              <a:t> Medium-term price trends persist. Skipping the latest month avoids short-term reversal, and volatility scaling measures trend per unit of risk.</a:t>
            </a:r>
          </a:p>
          <a:p>
            <a:pPr lvl="0"/>
            <a:endParaRPr lang="en-IN" sz="1200" dirty="0">
              <a:solidFill>
                <a:schemeClr val="tx1"/>
              </a:solidFill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</a:rPr>
              <a:t>Higher score =</a:t>
            </a:r>
            <a:r>
              <a:rPr lang="en-IN" sz="1200" dirty="0">
                <a:solidFill>
                  <a:schemeClr val="tx1"/>
                </a:solidFill>
              </a:rPr>
              <a:t> stronger risk-adjusted trend (favourable)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8CCB710-B833-2EC0-3F28-868AF4ED9F3C}"/>
              </a:ext>
            </a:extLst>
          </p:cNvPr>
          <p:cNvSpPr/>
          <p:nvPr/>
        </p:nvSpPr>
        <p:spPr>
          <a:xfrm>
            <a:off x="5861756" y="2791928"/>
            <a:ext cx="2286725" cy="27839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r>
              <a:rPr lang="en-IN" sz="1200" b="1" dirty="0">
                <a:solidFill>
                  <a:schemeClr val="tx1"/>
                </a:solidFill>
              </a:rPr>
              <a:t>Indicator:</a:t>
            </a:r>
            <a:r>
              <a:rPr lang="en-IN" sz="1200" dirty="0">
                <a:solidFill>
                  <a:schemeClr val="tx1"/>
                </a:solidFill>
              </a:rPr>
              <a:t> Change in forward P/E over 6 months, sign-inverted</a:t>
            </a:r>
          </a:p>
          <a:p>
            <a:pPr lvl="0"/>
            <a:endParaRPr lang="en-IN" sz="1200" dirty="0">
              <a:solidFill>
                <a:schemeClr val="tx1"/>
              </a:solidFill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</a:rPr>
              <a:t>Economic rationale:</a:t>
            </a:r>
            <a:r>
              <a:rPr lang="en-IN" sz="1200" dirty="0">
                <a:solidFill>
                  <a:schemeClr val="tx1"/>
                </a:solidFill>
              </a:rPr>
              <a:t> Relative valuations mean-revert. A recent de-rating leaves more room to re-rate, while multiple expansion leaves a market richer.</a:t>
            </a:r>
          </a:p>
          <a:p>
            <a:pPr lvl="0"/>
            <a:endParaRPr lang="en-IN" sz="1200" dirty="0">
              <a:solidFill>
                <a:schemeClr val="tx1"/>
              </a:solidFill>
            </a:endParaRPr>
          </a:p>
          <a:p>
            <a:pPr lvl="0"/>
            <a:r>
              <a:rPr lang="en-IN" sz="1200" b="1" dirty="0">
                <a:solidFill>
                  <a:schemeClr val="tx1"/>
                </a:solidFill>
              </a:rPr>
              <a:t>Higher score =</a:t>
            </a:r>
            <a:r>
              <a:rPr lang="en-IN" sz="1200" dirty="0">
                <a:solidFill>
                  <a:schemeClr val="tx1"/>
                </a:solidFill>
              </a:rPr>
              <a:t> larger de-rating (favourable)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26F1B63-E3EA-CF73-8FD3-E0D9A37BFAD0}"/>
              </a:ext>
            </a:extLst>
          </p:cNvPr>
          <p:cNvSpPr txBox="1"/>
          <p:nvPr/>
        </p:nvSpPr>
        <p:spPr>
          <a:xfrm>
            <a:off x="1354667" y="2506971"/>
            <a:ext cx="663387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IN" sz="1400" b="1" dirty="0">
                <a:solidFill>
                  <a:schemeClr val="tx1"/>
                </a:solidFill>
              </a:rPr>
              <a:t>Macro</a:t>
            </a:r>
            <a:endParaRPr lang="en-IN" sz="1400" dirty="0">
              <a:solidFill>
                <a:schemeClr val="tx1"/>
              </a:solidFill>
            </a:endParaRPr>
          </a:p>
          <a:p>
            <a:endParaRPr lang="en-IN" sz="14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7C8D62D-2FF1-2E38-A205-C9DAEA2DEF26}"/>
              </a:ext>
            </a:extLst>
          </p:cNvPr>
          <p:cNvSpPr txBox="1"/>
          <p:nvPr/>
        </p:nvSpPr>
        <p:spPr>
          <a:xfrm>
            <a:off x="9037011" y="2506971"/>
            <a:ext cx="867032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IN" sz="1400" b="1" dirty="0">
                <a:solidFill>
                  <a:schemeClr val="tx1"/>
                </a:solidFill>
              </a:rPr>
              <a:t>Technical</a:t>
            </a:r>
            <a:endParaRPr lang="en-IN" sz="1400" dirty="0">
              <a:solidFill>
                <a:schemeClr val="tx1"/>
              </a:solidFill>
            </a:endParaRPr>
          </a:p>
          <a:p>
            <a:endParaRPr lang="en-IN" sz="14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A0BDD4C-0F34-8794-7E5A-6A81835E40CA}"/>
              </a:ext>
            </a:extLst>
          </p:cNvPr>
          <p:cNvSpPr txBox="1"/>
          <p:nvPr/>
        </p:nvSpPr>
        <p:spPr>
          <a:xfrm>
            <a:off x="6439595" y="2506971"/>
            <a:ext cx="896079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IN" sz="1400" b="1" dirty="0">
                <a:solidFill>
                  <a:schemeClr val="tx1"/>
                </a:solidFill>
              </a:rPr>
              <a:t>Valuation</a:t>
            </a:r>
            <a:endParaRPr lang="en-IN" sz="1400" dirty="0">
              <a:solidFill>
                <a:schemeClr val="tx1"/>
              </a:solidFill>
            </a:endParaRPr>
          </a:p>
          <a:p>
            <a:endParaRPr lang="en-IN" sz="14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2E98534-2F7A-597C-C50B-A88CE97C9F33}"/>
              </a:ext>
            </a:extLst>
          </p:cNvPr>
          <p:cNvSpPr txBox="1"/>
          <p:nvPr/>
        </p:nvSpPr>
        <p:spPr>
          <a:xfrm>
            <a:off x="4111452" y="2506971"/>
            <a:ext cx="620106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IN" sz="1400" b="1" dirty="0">
                <a:solidFill>
                  <a:schemeClr val="tx1"/>
                </a:solidFill>
              </a:rPr>
              <a:t>Micro</a:t>
            </a:r>
            <a:endParaRPr lang="en-IN" sz="1400" dirty="0">
              <a:solidFill>
                <a:schemeClr val="tx1"/>
              </a:solidFill>
            </a:endParaRPr>
          </a:p>
          <a:p>
            <a:endParaRPr lang="en-IN" sz="140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866607F-725C-DC7F-2FF6-8088A5B4391C}"/>
              </a:ext>
            </a:extLst>
          </p:cNvPr>
          <p:cNvSpPr/>
          <p:nvPr/>
        </p:nvSpPr>
        <p:spPr>
          <a:xfrm>
            <a:off x="838199" y="5860852"/>
            <a:ext cx="9822058" cy="4476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IN" sz="1200" dirty="0">
                <a:solidFill>
                  <a:schemeClr val="tx1"/>
                </a:solidFill>
              </a:rPr>
              <a:t>Pillars are complementary by design (top-down and bottom-up, fundamentals and price). Pairwise correlations are low to moderate (|r| ≤ 0.39).</a:t>
            </a:r>
          </a:p>
          <a:p>
            <a:r>
              <a:rPr lang="en-US" sz="1200" dirty="0">
                <a:solidFill>
                  <a:schemeClr val="tx1"/>
                </a:solidFill>
              </a:rPr>
              <a:t>Equal weighting is retained: with only five markets, weights estimated from in-sample IC differences would be unreliable and prone to overfitting.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29E5A5C-9DC9-4733-A881-53CF6553477D}"/>
              </a:ext>
            </a:extLst>
          </p:cNvPr>
          <p:cNvSpPr txBox="1"/>
          <p:nvPr/>
        </p:nvSpPr>
        <p:spPr>
          <a:xfrm>
            <a:off x="838201" y="990577"/>
            <a:ext cx="9822056" cy="47798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IN" sz="1200" b="1" dirty="0"/>
              <a:t>Objective: </a:t>
            </a:r>
            <a:r>
              <a:rPr lang="en-IN" sz="1200" dirty="0"/>
              <a:t>rank five developed equity markets by likely relative performance over the next 3 - 6 months. </a:t>
            </a:r>
          </a:p>
          <a:p>
            <a:r>
              <a:rPr lang="en-IN" sz="1200" b="1" dirty="0"/>
              <a:t>Output: </a:t>
            </a:r>
            <a:r>
              <a:rPr lang="en-IN" sz="1200" dirty="0"/>
              <a:t>a monthly composite score and ranking, translated into Overweight / Equal Weight / Underweight views.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86970A8-3167-18A2-88EA-21C521F3D204}"/>
              </a:ext>
            </a:extLst>
          </p:cNvPr>
          <p:cNvSpPr txBox="1"/>
          <p:nvPr/>
        </p:nvSpPr>
        <p:spPr>
          <a:xfrm>
            <a:off x="0" y="6593480"/>
            <a:ext cx="60494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i="1" dirty="0">
                <a:solidFill>
                  <a:schemeClr val="tx1"/>
                </a:solidFill>
              </a:rPr>
              <a:t>Source: </a:t>
            </a:r>
            <a:r>
              <a:rPr lang="en-IN" sz="1000" i="1" dirty="0">
                <a:solidFill>
                  <a:schemeClr val="tx1"/>
                </a:solidFill>
              </a:rPr>
              <a:t>Bloomberg (PMI, EPS, forward P/E); Yahoo Finance (index price series); C</a:t>
            </a:r>
            <a:r>
              <a:rPr lang="en-IN" sz="1000" i="1" dirty="0"/>
              <a:t>RISIL</a:t>
            </a:r>
            <a:r>
              <a:rPr lang="en-IN" sz="1000" i="1" dirty="0">
                <a:solidFill>
                  <a:schemeClr val="tx1"/>
                </a:solidFill>
              </a:rPr>
              <a:t> analysis.</a:t>
            </a:r>
          </a:p>
        </p:txBody>
      </p:sp>
    </p:spTree>
    <p:extLst>
      <p:ext uri="{BB962C8B-B14F-4D97-AF65-F5344CB8AC3E}">
        <p14:creationId xmlns:p14="http://schemas.microsoft.com/office/powerpoint/2010/main" val="568964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AEF2-25E3-A3BD-A2A5-4D6BF73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7" y="369319"/>
            <a:ext cx="10515600" cy="623623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latin typeface="Arial   "/>
              </a:rPr>
              <a:t>Signal Selection &amp; Predictive Power</a:t>
            </a:r>
            <a:br>
              <a:rPr lang="en-IN" sz="3100" dirty="0">
                <a:latin typeface="Arial   "/>
              </a:rPr>
            </a:br>
            <a:r>
              <a:rPr lang="en-IN" sz="1600" i="1" dirty="0"/>
              <a:t>Which of the four signals actually forecast forward returns?</a:t>
            </a:r>
            <a:endParaRPr lang="en-IN" sz="1600" i="1" dirty="0">
              <a:latin typeface="Arial   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70DB44-21DD-8A76-0D98-ACDAD25A288D}"/>
              </a:ext>
            </a:extLst>
          </p:cNvPr>
          <p:cNvSpPr/>
          <p:nvPr/>
        </p:nvSpPr>
        <p:spPr>
          <a:xfrm>
            <a:off x="618067" y="1080403"/>
            <a:ext cx="1236133" cy="6236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Tests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B82976-3261-E005-EF69-01A56BA13913}"/>
              </a:ext>
            </a:extLst>
          </p:cNvPr>
          <p:cNvSpPr/>
          <p:nvPr/>
        </p:nvSpPr>
        <p:spPr>
          <a:xfrm>
            <a:off x="1979081" y="1080402"/>
            <a:ext cx="1955802" cy="6236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Monthly Cross-Sectional Information Coefficient (Spearman)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C5EE5A-4260-7A35-ADD4-6B67D1871677}"/>
              </a:ext>
            </a:extLst>
          </p:cNvPr>
          <p:cNvSpPr/>
          <p:nvPr/>
        </p:nvSpPr>
        <p:spPr>
          <a:xfrm>
            <a:off x="8221130" y="1080402"/>
            <a:ext cx="1955802" cy="6236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HAC Significance Test on Spread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C7723D-E323-9329-FA02-D8482A09CBAF}"/>
              </a:ext>
            </a:extLst>
          </p:cNvPr>
          <p:cNvSpPr/>
          <p:nvPr/>
        </p:nvSpPr>
        <p:spPr>
          <a:xfrm>
            <a:off x="6140447" y="1080402"/>
            <a:ext cx="1955802" cy="6236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Top-Minus-Bottom Country Spread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F7FEB1-6B92-124F-5700-FE09D10D84A8}"/>
              </a:ext>
            </a:extLst>
          </p:cNvPr>
          <p:cNvSpPr/>
          <p:nvPr/>
        </p:nvSpPr>
        <p:spPr>
          <a:xfrm>
            <a:off x="4059764" y="1080402"/>
            <a:ext cx="1955802" cy="6236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HAC Significance Test on Mean IC</a:t>
            </a:r>
            <a:endParaRPr lang="en-IN" sz="1200" dirty="0">
              <a:solidFill>
                <a:schemeClr val="tx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E335F3B-9342-2221-9C6A-6C1D1892B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34" y="2001753"/>
            <a:ext cx="7091687" cy="350095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46BA4A5-FBFC-5B12-ACC1-A5892CC1F132}"/>
              </a:ext>
            </a:extLst>
          </p:cNvPr>
          <p:cNvSpPr/>
          <p:nvPr/>
        </p:nvSpPr>
        <p:spPr>
          <a:xfrm>
            <a:off x="8445496" y="2209287"/>
            <a:ext cx="2976037" cy="9714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Macro (PMI)</a:t>
            </a:r>
          </a:p>
          <a:p>
            <a:r>
              <a:rPr lang="en-US" sz="1000" dirty="0">
                <a:solidFill>
                  <a:schemeClr val="tx1"/>
                </a:solidFill>
              </a:rPr>
              <a:t>IC: 0.069 (3M) · 0.076 (6M)</a:t>
            </a:r>
          </a:p>
          <a:p>
            <a:r>
              <a:rPr lang="en-US" sz="1000" dirty="0">
                <a:solidFill>
                  <a:schemeClr val="tx1"/>
                </a:solidFill>
              </a:rPr>
              <a:t>IC p = 0.134 / 0.233</a:t>
            </a:r>
          </a:p>
          <a:p>
            <a:r>
              <a:rPr lang="en-US" sz="1000" dirty="0">
                <a:solidFill>
                  <a:schemeClr val="tx1"/>
                </a:solidFill>
              </a:rPr>
              <a:t>Spread: +0.8% (3M) · +1.3% (6M)</a:t>
            </a:r>
          </a:p>
          <a:p>
            <a:r>
              <a:rPr lang="en-US" sz="1000" dirty="0">
                <a:solidFill>
                  <a:schemeClr val="tx1"/>
                </a:solidFill>
              </a:rPr>
              <a:t>Spread p = 0.168 / 0.154</a:t>
            </a:r>
          </a:p>
          <a:p>
            <a:r>
              <a:rPr lang="en-US" sz="1000" dirty="0">
                <a:solidFill>
                  <a:schemeClr val="tx1"/>
                </a:solidFill>
              </a:rPr>
              <a:t>Directionally consistent; not significant.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A6C28E-1746-C4AC-4559-63347C66219F}"/>
              </a:ext>
            </a:extLst>
          </p:cNvPr>
          <p:cNvSpPr/>
          <p:nvPr/>
        </p:nvSpPr>
        <p:spPr>
          <a:xfrm>
            <a:off x="8445496" y="3244995"/>
            <a:ext cx="2976037" cy="971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Micro (EPS growth)</a:t>
            </a:r>
          </a:p>
          <a:p>
            <a:r>
              <a:rPr lang="en-US" sz="1000" dirty="0">
                <a:solidFill>
                  <a:schemeClr val="tx1"/>
                </a:solidFill>
              </a:rPr>
              <a:t>IC: 0.131 (3M) · 0.145 (6M)</a:t>
            </a:r>
          </a:p>
          <a:p>
            <a:r>
              <a:rPr lang="en-US" sz="1000" dirty="0">
                <a:solidFill>
                  <a:schemeClr val="tx1"/>
                </a:solidFill>
              </a:rPr>
              <a:t>IC p = 0.009 / 0.033</a:t>
            </a:r>
          </a:p>
          <a:p>
            <a:r>
              <a:rPr lang="en-US" sz="1000" dirty="0">
                <a:solidFill>
                  <a:schemeClr val="tx1"/>
                </a:solidFill>
              </a:rPr>
              <a:t>Spread: +1.1% (3M) · +2.0% (6M)</a:t>
            </a:r>
          </a:p>
          <a:p>
            <a:r>
              <a:rPr lang="en-US" sz="1000" dirty="0">
                <a:solidFill>
                  <a:schemeClr val="tx1"/>
                </a:solidFill>
              </a:rPr>
              <a:t>Spread p = 0.064 / 0.055</a:t>
            </a:r>
          </a:p>
          <a:p>
            <a:r>
              <a:rPr lang="en-US" sz="1000" dirty="0">
                <a:solidFill>
                  <a:schemeClr val="tx1"/>
                </a:solidFill>
              </a:rPr>
              <a:t>Most consistent result across both tests.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44EC51B-DDC1-E194-F1F1-8D47A0947545}"/>
              </a:ext>
            </a:extLst>
          </p:cNvPr>
          <p:cNvSpPr/>
          <p:nvPr/>
        </p:nvSpPr>
        <p:spPr>
          <a:xfrm>
            <a:off x="8445496" y="4280703"/>
            <a:ext cx="2976037" cy="9714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Valuation (P/E reversal)</a:t>
            </a:r>
          </a:p>
          <a:p>
            <a:r>
              <a:rPr lang="en-US" sz="1000" dirty="0">
                <a:solidFill>
                  <a:schemeClr val="tx1"/>
                </a:solidFill>
              </a:rPr>
              <a:t>IC: 0.050 (3M) · 0.041 (6M)</a:t>
            </a:r>
          </a:p>
          <a:p>
            <a:r>
              <a:rPr lang="en-US" sz="1000" dirty="0">
                <a:solidFill>
                  <a:schemeClr val="tx1"/>
                </a:solidFill>
              </a:rPr>
              <a:t>IC p = 0.234 / 0.459</a:t>
            </a:r>
          </a:p>
          <a:p>
            <a:r>
              <a:rPr lang="en-US" sz="1000" dirty="0">
                <a:solidFill>
                  <a:schemeClr val="tx1"/>
                </a:solidFill>
              </a:rPr>
              <a:t>Spread: +0.8% (3M) · +0.8% (6M)</a:t>
            </a:r>
          </a:p>
          <a:p>
            <a:r>
              <a:rPr lang="en-US" sz="1000" dirty="0">
                <a:solidFill>
                  <a:schemeClr val="tx1"/>
                </a:solidFill>
              </a:rPr>
              <a:t>Spread p = 0.069 / 0.360</a:t>
            </a:r>
          </a:p>
          <a:p>
            <a:r>
              <a:rPr lang="en-US" sz="1000" dirty="0">
                <a:solidFill>
                  <a:schemeClr val="tx1"/>
                </a:solidFill>
              </a:rPr>
              <a:t>Borderline at 3M (spread only); not sustained.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A9FBC3-5DC1-138E-AED8-66F4AE8D0A6A}"/>
              </a:ext>
            </a:extLst>
          </p:cNvPr>
          <p:cNvSpPr/>
          <p:nvPr/>
        </p:nvSpPr>
        <p:spPr>
          <a:xfrm>
            <a:off x="8445496" y="5316409"/>
            <a:ext cx="2976037" cy="9658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/>
                </a:solidFill>
              </a:rPr>
              <a:t>Technical (risk-adj. momentum)</a:t>
            </a:r>
          </a:p>
          <a:p>
            <a:r>
              <a:rPr lang="en-US" sz="1000" dirty="0">
                <a:solidFill>
                  <a:schemeClr val="tx1"/>
                </a:solidFill>
              </a:rPr>
              <a:t>IC: 0.008 (3M) · 0.065 (6M)</a:t>
            </a:r>
          </a:p>
          <a:p>
            <a:r>
              <a:rPr lang="en-US" sz="1000" dirty="0">
                <a:solidFill>
                  <a:schemeClr val="tx1"/>
                </a:solidFill>
              </a:rPr>
              <a:t>IC p = 0.871 / 0.293</a:t>
            </a:r>
          </a:p>
          <a:p>
            <a:r>
              <a:rPr lang="en-US" sz="1000" dirty="0">
                <a:solidFill>
                  <a:schemeClr val="tx1"/>
                </a:solidFill>
              </a:rPr>
              <a:t>Spread: −0.5% (3M) · +0.5% (6M)</a:t>
            </a:r>
          </a:p>
          <a:p>
            <a:r>
              <a:rPr lang="en-US" sz="1000" dirty="0">
                <a:solidFill>
                  <a:schemeClr val="tx1"/>
                </a:solidFill>
              </a:rPr>
              <a:t>Spread p = 0.385 / 0.597</a:t>
            </a:r>
          </a:p>
          <a:p>
            <a:r>
              <a:rPr lang="en-US" sz="1000" dirty="0">
                <a:solidFill>
                  <a:schemeClr val="tx1"/>
                </a:solidFill>
              </a:rPr>
              <a:t>Limited evidence at either horizon.</a:t>
            </a:r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44AD4B-33AA-9998-EDB7-9C90326FF394}"/>
              </a:ext>
            </a:extLst>
          </p:cNvPr>
          <p:cNvSpPr/>
          <p:nvPr/>
        </p:nvSpPr>
        <p:spPr>
          <a:xfrm>
            <a:off x="601135" y="5681906"/>
            <a:ext cx="7091686" cy="6003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Micro (EPS growth) is the only pillar with a statistically significant mean IC at both horizons (3M: p = 0.009; 6M: p = 0.033). Macro, Valuation and Technical are not significant at either horizon. </a:t>
            </a:r>
          </a:p>
          <a:p>
            <a:r>
              <a:rPr lang="en-US" sz="1200" dirty="0">
                <a:solidFill>
                  <a:schemeClr val="tx1"/>
                </a:solidFill>
              </a:rPr>
              <a:t>Pillar tests are diagnostics; the scorecard is assessed as a composite on the next slides.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5CCC5D-B559-2017-7961-5B3C17DD523F}"/>
              </a:ext>
            </a:extLst>
          </p:cNvPr>
          <p:cNvSpPr txBox="1"/>
          <p:nvPr/>
        </p:nvSpPr>
        <p:spPr>
          <a:xfrm>
            <a:off x="0" y="6611779"/>
            <a:ext cx="7074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i="1" dirty="0">
                <a:solidFill>
                  <a:schemeClr val="tx1"/>
                </a:solidFill>
              </a:rPr>
              <a:t>Source: </a:t>
            </a:r>
            <a:r>
              <a:rPr lang="en-IN" sz="1000" i="1" dirty="0">
                <a:solidFill>
                  <a:schemeClr val="tx1"/>
                </a:solidFill>
              </a:rPr>
              <a:t>Sample: 245 monthly observations, Dec-2005 to Apr-2026</a:t>
            </a:r>
            <a:r>
              <a:rPr lang="en-US" sz="1000" i="1" dirty="0">
                <a:solidFill>
                  <a:schemeClr val="tx1"/>
                </a:solidFill>
              </a:rPr>
              <a:t>, Bloomberg; Yahoo Finance; CRISIL analysis.</a:t>
            </a:r>
            <a:endParaRPr lang="en-IN" sz="1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067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2049BF4C-0F50-AB04-7868-F0AB31DD9061}"/>
              </a:ext>
            </a:extLst>
          </p:cNvPr>
          <p:cNvSpPr txBox="1">
            <a:spLocks/>
          </p:cNvSpPr>
          <p:nvPr/>
        </p:nvSpPr>
        <p:spPr>
          <a:xfrm>
            <a:off x="838200" y="309922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latin typeface="Arial   "/>
              </a:rPr>
              <a:t>Scorecard Construction</a:t>
            </a:r>
            <a:br>
              <a:rPr lang="en-IN" dirty="0"/>
            </a:br>
            <a:r>
              <a:rPr lang="en-IN" sz="1400" i="1" dirty="0"/>
              <a:t>From four standardized signals to one monthly country ranking</a:t>
            </a: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E282226B-8A94-E1E5-F343-C1FCD28946AF}"/>
              </a:ext>
            </a:extLst>
          </p:cNvPr>
          <p:cNvSpPr/>
          <p:nvPr/>
        </p:nvSpPr>
        <p:spPr>
          <a:xfrm>
            <a:off x="533400" y="1547706"/>
            <a:ext cx="2616200" cy="442912"/>
          </a:xfrm>
          <a:prstGeom prst="chevr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Cross-sectional standardization </a:t>
            </a: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2712A8FD-9CF2-9E68-0E1C-88A9E082B3E3}"/>
              </a:ext>
            </a:extLst>
          </p:cNvPr>
          <p:cNvSpPr/>
          <p:nvPr/>
        </p:nvSpPr>
        <p:spPr>
          <a:xfrm>
            <a:off x="5583768" y="1547705"/>
            <a:ext cx="2616200" cy="442913"/>
          </a:xfrm>
          <a:prstGeom prst="chevr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Equal weighting</a:t>
            </a: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DEC12042-6524-B263-DEEF-893B2186369D}"/>
              </a:ext>
            </a:extLst>
          </p:cNvPr>
          <p:cNvSpPr/>
          <p:nvPr/>
        </p:nvSpPr>
        <p:spPr>
          <a:xfrm>
            <a:off x="3058584" y="1547706"/>
            <a:ext cx="2616200" cy="442912"/>
          </a:xfrm>
          <a:prstGeom prst="chevr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Sign alignment</a:t>
            </a: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624F1114-F951-7590-EF03-A12752BAFEEC}"/>
              </a:ext>
            </a:extLst>
          </p:cNvPr>
          <p:cNvSpPr/>
          <p:nvPr/>
        </p:nvSpPr>
        <p:spPr>
          <a:xfrm>
            <a:off x="8108952" y="1547706"/>
            <a:ext cx="2616200" cy="442912"/>
          </a:xfrm>
          <a:prstGeom prst="chevr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Monthly ranking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FCF431-806C-811C-37F8-55C0B1C7CC6F}"/>
              </a:ext>
            </a:extLst>
          </p:cNvPr>
          <p:cNvSpPr/>
          <p:nvPr/>
        </p:nvSpPr>
        <p:spPr>
          <a:xfrm>
            <a:off x="533400" y="2137196"/>
            <a:ext cx="2525184" cy="5132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000" dirty="0">
                <a:solidFill>
                  <a:schemeClr val="tx1"/>
                </a:solidFill>
              </a:rPr>
              <a:t>Each signal converted to a z-score relative to the five-market cross-section, same month.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1D2530-A9E5-990D-6D23-E3B265FD5276}"/>
              </a:ext>
            </a:extLst>
          </p:cNvPr>
          <p:cNvSpPr/>
          <p:nvPr/>
        </p:nvSpPr>
        <p:spPr>
          <a:xfrm>
            <a:off x="8263467" y="2137196"/>
            <a:ext cx="2525184" cy="5132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Countries ranked 1 (highest) to 5 (lowest) by Composite Score, every month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9261D7-8B57-AA42-F990-D50EC213ACC0}"/>
              </a:ext>
            </a:extLst>
          </p:cNvPr>
          <p:cNvSpPr/>
          <p:nvPr/>
        </p:nvSpPr>
        <p:spPr>
          <a:xfrm>
            <a:off x="5686778" y="2137196"/>
            <a:ext cx="2525184" cy="5132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Four pillar scores combined, 25% each, into one Composite Score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E4D4E1E-4808-AE59-6DF3-FE5E0AE10B03}"/>
              </a:ext>
            </a:extLst>
          </p:cNvPr>
          <p:cNvSpPr/>
          <p:nvPr/>
        </p:nvSpPr>
        <p:spPr>
          <a:xfrm>
            <a:off x="3110089" y="2137196"/>
            <a:ext cx="2525184" cy="5132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pillar is oriented so a higher score is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favourable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 its economic rationale; Valuation is sign-inverted.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DF33A2E-905D-20AF-6CAD-19B77473E04D}"/>
              </a:ext>
            </a:extLst>
          </p:cNvPr>
          <p:cNvSpPr/>
          <p:nvPr/>
        </p:nvSpPr>
        <p:spPr>
          <a:xfrm>
            <a:off x="559154" y="3036534"/>
            <a:ext cx="8358787" cy="1063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tx1"/>
                </a:solidFill>
              </a:rPr>
              <a:t>Data requirement:</a:t>
            </a:r>
            <a:r>
              <a:rPr lang="en-IN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The Composite Score requires all four pillars. The Technical pillar needs 12 months of price history for trailing volatility, so scoring begins on 29-Dec-2006; the first 12 observations of the 245-month panel are unscored (233 scored dates).</a:t>
            </a:r>
          </a:p>
          <a:p>
            <a:endParaRPr lang="en-IN" sz="1200" dirty="0">
              <a:solidFill>
                <a:schemeClr val="tx1"/>
              </a:solidFill>
            </a:endParaRPr>
          </a:p>
          <a:p>
            <a:r>
              <a:rPr lang="en-IN" sz="1200" b="1" dirty="0">
                <a:solidFill>
                  <a:schemeClr val="tx1"/>
                </a:solidFill>
              </a:rPr>
              <a:t>Outlier treatment: </a:t>
            </a:r>
            <a:r>
              <a:rPr lang="en-US" sz="1200" dirty="0">
                <a:solidFill>
                  <a:schemeClr val="tx1"/>
                </a:solidFill>
              </a:rPr>
              <a:t>No </a:t>
            </a:r>
            <a:r>
              <a:rPr lang="en-US" sz="1200" dirty="0" err="1">
                <a:solidFill>
                  <a:schemeClr val="tx1"/>
                </a:solidFill>
              </a:rPr>
              <a:t>winsorisation</a:t>
            </a:r>
            <a:r>
              <a:rPr lang="en-US" sz="1200" dirty="0">
                <a:solidFill>
                  <a:schemeClr val="tx1"/>
                </a:solidFill>
              </a:rPr>
              <a:t> is applied. With five markets, a cross-sectional z-score (sample standard deviation) cannot exceed ±1.79 in magnitude ((n−1)/√n), so the ±3 cap used in large-universe factor indexes would never bind.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23C1AB1-A8CC-664E-0B7A-311A537D7F8B}"/>
              </a:ext>
            </a:extLst>
          </p:cNvPr>
          <p:cNvSpPr/>
          <p:nvPr/>
        </p:nvSpPr>
        <p:spPr>
          <a:xfrm>
            <a:off x="533400" y="4485702"/>
            <a:ext cx="2624597" cy="13823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tx1"/>
                </a:solidFill>
              </a:rPr>
              <a:t>Standardization</a:t>
            </a:r>
          </a:p>
          <a:p>
            <a:r>
              <a:rPr lang="en-IN" sz="1200" dirty="0">
                <a:solidFill>
                  <a:schemeClr val="tx1"/>
                </a:solidFill>
              </a:rPr>
              <a:t>z-score for each signal, per date:</a:t>
            </a:r>
          </a:p>
          <a:p>
            <a:r>
              <a:rPr lang="en-IN" sz="1200" dirty="0">
                <a:solidFill>
                  <a:schemeClr val="tx1"/>
                </a:solidFill>
              </a:rPr>
              <a:t>z = (x − μ) / σ, where μ and σ are the cross-sectional mean and standard deviation across the five markets on that date.</a:t>
            </a:r>
          </a:p>
          <a:p>
            <a:endParaRPr lang="en-IN" sz="10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BC402E4-D2A0-643A-A845-574118E40D18}"/>
              </a:ext>
            </a:extLst>
          </p:cNvPr>
          <p:cNvSpPr/>
          <p:nvPr/>
        </p:nvSpPr>
        <p:spPr>
          <a:xfrm>
            <a:off x="6293344" y="4478135"/>
            <a:ext cx="2624597" cy="13898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tx1"/>
                </a:solidFill>
              </a:rPr>
              <a:t>Rebalancing</a:t>
            </a:r>
            <a:endParaRPr lang="en-IN" sz="1200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The scorecard is recalculated and re-ranked monthly as new PMI, EPS, P/E and price data become available, with n</a:t>
            </a:r>
            <a:r>
              <a:rPr lang="en-US" sz="1200" dirty="0">
                <a:solidFill>
                  <a:schemeClr val="tx1"/>
                </a:solidFill>
              </a:rPr>
              <a:t>o smoothing applied at the scoring stage; the </a:t>
            </a:r>
            <a:r>
              <a:rPr lang="en-US" sz="1200" dirty="0" err="1">
                <a:solidFill>
                  <a:schemeClr val="tx1"/>
                </a:solidFill>
              </a:rPr>
              <a:t>backtest</a:t>
            </a:r>
            <a:r>
              <a:rPr lang="en-US" sz="1200" dirty="0">
                <a:solidFill>
                  <a:schemeClr val="tx1"/>
                </a:solidFill>
              </a:rPr>
              <a:t> adds a one-month execution lag.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D3362B6-D05C-D28B-54D7-FA208E2A0564}"/>
              </a:ext>
            </a:extLst>
          </p:cNvPr>
          <p:cNvSpPr/>
          <p:nvPr/>
        </p:nvSpPr>
        <p:spPr>
          <a:xfrm>
            <a:off x="3413372" y="4485702"/>
            <a:ext cx="2624597" cy="13898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tx1"/>
                </a:solidFill>
              </a:rPr>
              <a:t>Composite formula</a:t>
            </a:r>
            <a:endParaRPr lang="en-IN" sz="1200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Composite = 0.25 × Macro + 0.25 × Micro + 0.25 × Valuation + 0.25 × Technical</a:t>
            </a:r>
          </a:p>
          <a:p>
            <a:endParaRPr lang="en-IN" sz="1200" dirty="0">
              <a:solidFill>
                <a:schemeClr val="tx1"/>
              </a:solidFill>
            </a:endParaRPr>
          </a:p>
        </p:txBody>
      </p:sp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325AF0BD-0319-85A4-9914-C8DDE7EE0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093899"/>
              </p:ext>
            </p:extLst>
          </p:nvPr>
        </p:nvGraphicFramePr>
        <p:xfrm>
          <a:off x="9173316" y="3679613"/>
          <a:ext cx="2827024" cy="2195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5819">
                  <a:extLst>
                    <a:ext uri="{9D8B030D-6E8A-4147-A177-3AD203B41FA5}">
                      <a16:colId xmlns:a16="http://schemas.microsoft.com/office/drawing/2014/main" val="2601233889"/>
                    </a:ext>
                  </a:extLst>
                </a:gridCol>
                <a:gridCol w="587693">
                  <a:extLst>
                    <a:ext uri="{9D8B030D-6E8A-4147-A177-3AD203B41FA5}">
                      <a16:colId xmlns:a16="http://schemas.microsoft.com/office/drawing/2014/main" val="2503238455"/>
                    </a:ext>
                  </a:extLst>
                </a:gridCol>
                <a:gridCol w="560069">
                  <a:extLst>
                    <a:ext uri="{9D8B030D-6E8A-4147-A177-3AD203B41FA5}">
                      <a16:colId xmlns:a16="http://schemas.microsoft.com/office/drawing/2014/main" val="2648277200"/>
                    </a:ext>
                  </a:extLst>
                </a:gridCol>
                <a:gridCol w="853443">
                  <a:extLst>
                    <a:ext uri="{9D8B030D-6E8A-4147-A177-3AD203B41FA5}">
                      <a16:colId xmlns:a16="http://schemas.microsoft.com/office/drawing/2014/main" val="1389952520"/>
                    </a:ext>
                  </a:extLst>
                </a:gridCol>
              </a:tblGrid>
              <a:tr h="3659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Pillar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/>
                        <a:t>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309348"/>
                  </a:ext>
                </a:extLst>
              </a:tr>
              <a:tr h="3659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Macro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/>
                        <a:t>0.08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/>
                        <a:t>25%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0.02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40517"/>
                  </a:ext>
                </a:extLst>
              </a:tr>
              <a:tr h="3659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Micro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/>
                        <a:t>0.41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/>
                        <a:t>25%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0.10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914130"/>
                  </a:ext>
                </a:extLst>
              </a:tr>
              <a:tr h="3659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Valuation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/>
                        <a:t>0.39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/>
                        <a:t>25%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0.10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803368"/>
                  </a:ext>
                </a:extLst>
              </a:tr>
              <a:tr h="3659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Technical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/>
                        <a:t>1.35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/>
                        <a:t>25%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0.34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592683"/>
                  </a:ext>
                </a:extLst>
              </a:tr>
              <a:tr h="3659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1" dirty="0"/>
                        <a:t>Composite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1" dirty="0"/>
                        <a:t>0.56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886815"/>
                  </a:ext>
                </a:extLst>
              </a:tr>
            </a:tbl>
          </a:graphicData>
        </a:graphic>
      </p:graphicFrame>
      <p:sp>
        <p:nvSpPr>
          <p:cNvPr id="76" name="TextBox 75">
            <a:extLst>
              <a:ext uri="{FF2B5EF4-FFF2-40B4-BE49-F238E27FC236}">
                <a16:creationId xmlns:a16="http://schemas.microsoft.com/office/drawing/2014/main" id="{7E7EFC89-3163-64E4-93DB-6F82297B10B6}"/>
              </a:ext>
            </a:extLst>
          </p:cNvPr>
          <p:cNvSpPr txBox="1"/>
          <p:nvPr/>
        </p:nvSpPr>
        <p:spPr>
          <a:xfrm>
            <a:off x="9173316" y="3324480"/>
            <a:ext cx="26608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   "/>
              </a:rPr>
              <a:t>Worked example: UK, 30 Apr 2026</a:t>
            </a:r>
            <a:endParaRPr lang="en-IN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5082146-8218-CDCC-1330-28188AA9EE30}"/>
              </a:ext>
            </a:extLst>
          </p:cNvPr>
          <p:cNvSpPr txBox="1"/>
          <p:nvPr/>
        </p:nvSpPr>
        <p:spPr>
          <a:xfrm>
            <a:off x="0" y="6611779"/>
            <a:ext cx="7074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i="1" dirty="0">
                <a:solidFill>
                  <a:schemeClr val="tx1"/>
                </a:solidFill>
              </a:rPr>
              <a:t>Source: </a:t>
            </a:r>
            <a:r>
              <a:rPr lang="en-IN" sz="1000" i="1" dirty="0">
                <a:solidFill>
                  <a:schemeClr val="tx1"/>
                </a:solidFill>
              </a:rPr>
              <a:t>Sample: 245 monthly observations, Dec 2005 to Apr 2026</a:t>
            </a:r>
            <a:r>
              <a:rPr lang="en-US" sz="1000" i="1" dirty="0">
                <a:solidFill>
                  <a:schemeClr val="tx1"/>
                </a:solidFill>
              </a:rPr>
              <a:t>, Bloomberg; Yahoo Finance; CRISIL analysis.</a:t>
            </a:r>
            <a:endParaRPr lang="en-IN" sz="1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63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5113-F0A2-9ADE-7821-3105BF53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074" y="161925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   "/>
              </a:rPr>
              <a:t>Backtest Results</a:t>
            </a:r>
            <a:br>
              <a:rPr lang="en-IN" dirty="0"/>
            </a:br>
            <a:r>
              <a:rPr lang="en-IN" sz="1400" i="1" dirty="0"/>
              <a:t>Does the ranking actually predict what happens next?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BEE7C4-BCE5-DB06-080D-9E71523BA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99" y="2387257"/>
            <a:ext cx="6408207" cy="41857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904AD17-8DBB-95FD-48E5-A973AF60AEAA}"/>
              </a:ext>
            </a:extLst>
          </p:cNvPr>
          <p:cNvSpPr/>
          <p:nvPr/>
        </p:nvSpPr>
        <p:spPr>
          <a:xfrm>
            <a:off x="7160681" y="2986017"/>
            <a:ext cx="4447119" cy="5595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Composite 6M Rank IC: 0.117 (p = 0.058)</a:t>
            </a:r>
          </a:p>
          <a:p>
            <a:r>
              <a:rPr lang="en-US" sz="1200" dirty="0">
                <a:solidFill>
                  <a:schemeClr val="tx1"/>
                </a:solidFill>
              </a:rPr>
              <a:t>Rank 1 - Rank 5 spread: +1.7% (6M), Sharpe 0.28, p = 0.089</a:t>
            </a:r>
          </a:p>
          <a:p>
            <a:r>
              <a:rPr lang="en-US" sz="1200" dirty="0">
                <a:solidFill>
                  <a:schemeClr val="tx1"/>
                </a:solidFill>
              </a:rPr>
              <a:t>Correlation: 0.999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F65E35-422B-3AAF-BDB5-02550C170F92}"/>
              </a:ext>
            </a:extLst>
          </p:cNvPr>
          <p:cNvSpPr/>
          <p:nvPr/>
        </p:nvSpPr>
        <p:spPr>
          <a:xfrm>
            <a:off x="727074" y="1380066"/>
            <a:ext cx="6265333" cy="100719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Composite Portfolio: </a:t>
            </a:r>
            <a:r>
              <a:rPr lang="en-US" sz="1200" dirty="0">
                <a:solidFill>
                  <a:schemeClr val="tx1"/>
                </a:solidFill>
              </a:rPr>
              <a:t>countries weighted monthly by </a:t>
            </a:r>
            <a:r>
              <a:rPr lang="en-US" sz="1200" dirty="0" err="1">
                <a:solidFill>
                  <a:schemeClr val="tx1"/>
                </a:solidFill>
              </a:rPr>
              <a:t>Composite_Score</a:t>
            </a:r>
            <a:r>
              <a:rPr lang="en-US" sz="1200" dirty="0">
                <a:solidFill>
                  <a:schemeClr val="tx1"/>
                </a:solidFill>
              </a:rPr>
              <a:t> via a bounded tilt function, implemented with a one-month lag to avoid look-ahead; fully invested, long-only across all five markets.</a:t>
            </a:r>
            <a:r>
              <a:rPr lang="en-IN" sz="1200" dirty="0"/>
              <a:t> 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Equal-Weight Benchmark: </a:t>
            </a:r>
            <a:r>
              <a:rPr lang="en-US" sz="1200" dirty="0">
                <a:solidFill>
                  <a:schemeClr val="tx1"/>
                </a:solidFill>
              </a:rPr>
              <a:t>static 20% allocation to each market, rebalanced on the same schedule and lag as the Composite Portfolio.</a:t>
            </a:r>
            <a:endParaRPr lang="en-IN" sz="1200" dirty="0">
              <a:solidFill>
                <a:schemeClr val="tx1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3AEACE3-DF02-BC62-AF27-D5C9DAD6B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697890"/>
              </p:ext>
            </p:extLst>
          </p:nvPr>
        </p:nvGraphicFramePr>
        <p:xfrm>
          <a:off x="7160681" y="1380066"/>
          <a:ext cx="4470399" cy="1523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0133">
                  <a:extLst>
                    <a:ext uri="{9D8B030D-6E8A-4147-A177-3AD203B41FA5}">
                      <a16:colId xmlns:a16="http://schemas.microsoft.com/office/drawing/2014/main" val="2237009152"/>
                    </a:ext>
                  </a:extLst>
                </a:gridCol>
                <a:gridCol w="1490133">
                  <a:extLst>
                    <a:ext uri="{9D8B030D-6E8A-4147-A177-3AD203B41FA5}">
                      <a16:colId xmlns:a16="http://schemas.microsoft.com/office/drawing/2014/main" val="967695064"/>
                    </a:ext>
                  </a:extLst>
                </a:gridCol>
                <a:gridCol w="1490133">
                  <a:extLst>
                    <a:ext uri="{9D8B030D-6E8A-4147-A177-3AD203B41FA5}">
                      <a16:colId xmlns:a16="http://schemas.microsoft.com/office/drawing/2014/main" val="949537996"/>
                    </a:ext>
                  </a:extLst>
                </a:gridCol>
              </a:tblGrid>
              <a:tr h="283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Composite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Equal-Weight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105956"/>
                  </a:ext>
                </a:extLst>
              </a:tr>
              <a:tr h="495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Annualized return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3.84%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3.67%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859805"/>
                  </a:ext>
                </a:extLst>
              </a:tr>
              <a:tr h="283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Sharpe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0.24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0.23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225341"/>
                  </a:ext>
                </a:extLst>
              </a:tr>
              <a:tr h="461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Max drawdown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−56.2%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−56.0%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848534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DA64E023-5563-D4E8-53C3-F3B8BAD5E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527" y="3627846"/>
            <a:ext cx="3765553" cy="3068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F93493-83EB-E8C3-27CB-6E8DD819A2D2}"/>
              </a:ext>
            </a:extLst>
          </p:cNvPr>
          <p:cNvSpPr txBox="1"/>
          <p:nvPr/>
        </p:nvSpPr>
        <p:spPr>
          <a:xfrm>
            <a:off x="0" y="6611779"/>
            <a:ext cx="7074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i="1" dirty="0">
                <a:solidFill>
                  <a:schemeClr val="tx1"/>
                </a:solidFill>
              </a:rPr>
              <a:t>Source: </a:t>
            </a:r>
            <a:r>
              <a:rPr lang="en-IN" sz="1000" i="1" dirty="0">
                <a:solidFill>
                  <a:schemeClr val="tx1"/>
                </a:solidFill>
              </a:rPr>
              <a:t>Sample: 245 monthly observations, Dec 2005 to Apr 2026</a:t>
            </a:r>
            <a:r>
              <a:rPr lang="en-US" sz="1000" i="1" dirty="0">
                <a:solidFill>
                  <a:schemeClr val="tx1"/>
                </a:solidFill>
              </a:rPr>
              <a:t>, Bloomberg; Yahoo Finance; CRISIL analysis.</a:t>
            </a:r>
            <a:endParaRPr lang="en-IN" sz="1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657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5D622-2C53-3A90-33B0-2DB24E74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78" y="93374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   "/>
              </a:rPr>
              <a:t>Current Ranking &amp; Investment Recommendation</a:t>
            </a:r>
            <a:br>
              <a:rPr lang="en-IN" sz="2800" b="1" dirty="0">
                <a:latin typeface="Arial   "/>
              </a:rPr>
            </a:br>
            <a:r>
              <a:rPr lang="en-IN" sz="1400" i="1" dirty="0"/>
              <a:t>Translating the scorecard into portfolio positioning</a:t>
            </a:r>
            <a:endParaRPr lang="en-IN" sz="1400" b="1" i="1" dirty="0">
              <a:latin typeface="Arial   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6245E4-0B17-2DAD-F93D-72DCACFFC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11" y="2382031"/>
            <a:ext cx="7085822" cy="15532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2418C0-C270-1232-A51A-E8FC78EB53F3}"/>
              </a:ext>
            </a:extLst>
          </p:cNvPr>
          <p:cNvSpPr/>
          <p:nvPr/>
        </p:nvSpPr>
        <p:spPr>
          <a:xfrm>
            <a:off x="7764684" y="1418938"/>
            <a:ext cx="4051153" cy="27014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1200" b="1" dirty="0">
                <a:solidFill>
                  <a:schemeClr val="tx1"/>
                </a:solidFill>
              </a:rPr>
              <a:t>Recommendation</a:t>
            </a:r>
          </a:p>
          <a:p>
            <a:pPr lvl="0"/>
            <a:endParaRPr lang="en-IN" sz="1200" b="1" dirty="0">
              <a:solidFill>
                <a:schemeClr val="tx1"/>
              </a:solidFill>
            </a:endParaRPr>
          </a:p>
          <a:p>
            <a:pPr lvl="0"/>
            <a:r>
              <a:rPr lang="en-IN" sz="1200" dirty="0">
                <a:solidFill>
                  <a:schemeClr val="tx1"/>
                </a:solidFill>
              </a:rPr>
              <a:t>Tilt a developed-markets equity allocation toward </a:t>
            </a:r>
            <a:r>
              <a:rPr lang="en-US" sz="1200" dirty="0">
                <a:solidFill>
                  <a:schemeClr val="tx1"/>
                </a:solidFill>
              </a:rPr>
              <a:t>the UK and Japan, hold the US near the benchmark, and underweight Switzerland and the </a:t>
            </a:r>
            <a:r>
              <a:rPr lang="en-IN" sz="1200" dirty="0">
                <a:solidFill>
                  <a:schemeClr val="tx1"/>
                </a:solidFill>
              </a:rPr>
              <a:t>Eurozone, relative to an equal-weight five-market portfolio.</a:t>
            </a:r>
            <a:br>
              <a:rPr lang="en-IN" sz="1200" dirty="0">
                <a:solidFill>
                  <a:schemeClr val="tx1"/>
                </a:solidFill>
              </a:rPr>
            </a:br>
            <a:r>
              <a:rPr lang="en-IN" sz="1200" dirty="0">
                <a:solidFill>
                  <a:schemeClr val="tx1"/>
                </a:solidFill>
              </a:rPr>
              <a:t>Applying the </a:t>
            </a:r>
            <a:r>
              <a:rPr lang="en-IN" sz="1200" dirty="0" err="1">
                <a:solidFill>
                  <a:schemeClr val="tx1"/>
                </a:solidFill>
              </a:rPr>
              <a:t>backtest's</a:t>
            </a:r>
            <a:r>
              <a:rPr lang="en-IN" sz="1200" dirty="0">
                <a:solidFill>
                  <a:schemeClr val="tx1"/>
                </a:solidFill>
              </a:rPr>
              <a:t> tilt rule to the April 2026 scores </a:t>
            </a:r>
            <a:r>
              <a:rPr lang="en-US" sz="1200" dirty="0">
                <a:solidFill>
                  <a:schemeClr val="tx1"/>
                </a:solidFill>
              </a:rPr>
              <a:t>yields implied weights of UK 25.4%, Japan 22.4%, US 21.6%, Switzerland 16.0%, and Eurozone 14.5%, compared with</a:t>
            </a:r>
            <a:r>
              <a:rPr lang="en-IN" sz="1200" dirty="0">
                <a:solidFill>
                  <a:schemeClr val="tx1"/>
                </a:solidFill>
              </a:rPr>
              <a:t> 20% each at equal weight. The tilt is small by construction (about ±5 points).</a:t>
            </a:r>
            <a:br>
              <a:rPr lang="en-IN" sz="1200" dirty="0">
                <a:solidFill>
                  <a:schemeClr val="tx1"/>
                </a:solidFill>
              </a:rPr>
            </a:br>
            <a:r>
              <a:rPr lang="en-IN" sz="1200" dirty="0">
                <a:solidFill>
                  <a:schemeClr val="tx1"/>
                </a:solidFill>
              </a:rPr>
              <a:t>Evidence is strongest over 6 months (rank IC</a:t>
            </a:r>
            <a:r>
              <a:rPr lang="en-US" sz="1200" dirty="0">
                <a:solidFill>
                  <a:schemeClr val="tx1"/>
                </a:solidFill>
              </a:rPr>
              <a:t>: 0.117 vs 0.090 at 3M), so hold the view for roughly 6</a:t>
            </a:r>
            <a:r>
              <a:rPr lang="en-IN" sz="1200" dirty="0">
                <a:solidFill>
                  <a:schemeClr val="tx1"/>
                </a:solidFill>
              </a:rPr>
              <a:t> months and re-score monthly.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B7D1D-1636-14A6-B3AF-34CBAEAB4B56}"/>
              </a:ext>
            </a:extLst>
          </p:cNvPr>
          <p:cNvSpPr/>
          <p:nvPr/>
        </p:nvSpPr>
        <p:spPr>
          <a:xfrm>
            <a:off x="7764684" y="5060612"/>
            <a:ext cx="4051153" cy="10559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dirty="0">
                <a:solidFill>
                  <a:schemeClr val="tx1"/>
                </a:solidFill>
              </a:rPr>
              <a:t>The model re-scores monthly as new PMI, EPS, P/E and price data arrive. The </a:t>
            </a:r>
            <a:r>
              <a:rPr lang="en-IN" sz="1200" dirty="0" err="1">
                <a:solidFill>
                  <a:schemeClr val="tx1"/>
                </a:solidFill>
              </a:rPr>
              <a:t>backtest</a:t>
            </a:r>
            <a:r>
              <a:rPr lang="en-IN" sz="1200" dirty="0">
                <a:solidFill>
                  <a:schemeClr val="tx1"/>
                </a:solidFill>
              </a:rPr>
              <a:t> showed no drawdown protection relative to equal-weight (max drawdown −56%), so this is a relative tilt within an equity allocation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9022AD-AC4D-D2FD-135D-A4D4944F7495}"/>
              </a:ext>
            </a:extLst>
          </p:cNvPr>
          <p:cNvSpPr/>
          <p:nvPr/>
        </p:nvSpPr>
        <p:spPr>
          <a:xfrm>
            <a:off x="424111" y="1490870"/>
            <a:ext cx="1328489" cy="5990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UK</a:t>
            </a:r>
          </a:p>
          <a:p>
            <a:pPr algn="ctr"/>
            <a:r>
              <a:rPr lang="en-IN" sz="1200" dirty="0"/>
              <a:t>Overweight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B9586D-3131-A429-58E9-AC6374908DB4}"/>
              </a:ext>
            </a:extLst>
          </p:cNvPr>
          <p:cNvSpPr/>
          <p:nvPr/>
        </p:nvSpPr>
        <p:spPr>
          <a:xfrm>
            <a:off x="5804462" y="1490870"/>
            <a:ext cx="1328489" cy="5990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Eurozone</a:t>
            </a:r>
          </a:p>
          <a:p>
            <a:pPr algn="ctr"/>
            <a:r>
              <a:rPr lang="en-IN" sz="1200" dirty="0"/>
              <a:t>Underweight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25FF20-0935-38A7-1266-E84C6422B7FC}"/>
              </a:ext>
            </a:extLst>
          </p:cNvPr>
          <p:cNvSpPr/>
          <p:nvPr/>
        </p:nvSpPr>
        <p:spPr>
          <a:xfrm>
            <a:off x="4459375" y="1490870"/>
            <a:ext cx="1328489" cy="5990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Switzerland</a:t>
            </a:r>
          </a:p>
          <a:p>
            <a:pPr algn="ctr"/>
            <a:r>
              <a:rPr lang="en-IN" sz="1200" dirty="0"/>
              <a:t>Underweight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E606CA-C81F-F37D-836C-B75DF720B480}"/>
              </a:ext>
            </a:extLst>
          </p:cNvPr>
          <p:cNvSpPr/>
          <p:nvPr/>
        </p:nvSpPr>
        <p:spPr>
          <a:xfrm>
            <a:off x="1769199" y="1490870"/>
            <a:ext cx="1328489" cy="5990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Japan</a:t>
            </a:r>
          </a:p>
          <a:p>
            <a:pPr algn="ctr"/>
            <a:r>
              <a:rPr lang="en-IN" sz="1200" dirty="0"/>
              <a:t>Overweight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03D1F5-E792-F526-24BA-B2957433D2B8}"/>
              </a:ext>
            </a:extLst>
          </p:cNvPr>
          <p:cNvSpPr/>
          <p:nvPr/>
        </p:nvSpPr>
        <p:spPr>
          <a:xfrm>
            <a:off x="3114287" y="1490870"/>
            <a:ext cx="1328489" cy="5990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</a:t>
            </a:r>
          </a:p>
          <a:p>
            <a:pPr algn="ctr"/>
            <a:r>
              <a:rPr lang="en-IN" sz="1200" dirty="0"/>
              <a:t>Equal Weight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EAD62-8ECC-81A4-1C05-9B9B4302E09C}"/>
              </a:ext>
            </a:extLst>
          </p:cNvPr>
          <p:cNvSpPr txBox="1"/>
          <p:nvPr/>
        </p:nvSpPr>
        <p:spPr>
          <a:xfrm>
            <a:off x="0" y="6611779"/>
            <a:ext cx="7074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i="1" dirty="0">
                <a:solidFill>
                  <a:schemeClr val="tx1"/>
                </a:solidFill>
              </a:rPr>
              <a:t>Source: </a:t>
            </a:r>
            <a:r>
              <a:rPr lang="en-IN" sz="1000" i="1" dirty="0">
                <a:solidFill>
                  <a:schemeClr val="tx1"/>
                </a:solidFill>
              </a:rPr>
              <a:t>Sample: 245 monthly observations, Dec 2005 to Apr 2026</a:t>
            </a:r>
            <a:r>
              <a:rPr lang="en-US" sz="1000" i="1" dirty="0">
                <a:solidFill>
                  <a:schemeClr val="tx1"/>
                </a:solidFill>
              </a:rPr>
              <a:t>, Bloomberg; Yahoo Finance; CRISIL analysis.</a:t>
            </a:r>
            <a:endParaRPr lang="en-IN" sz="1000" i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E9DB2A-6D98-7655-AD13-2846A5E8B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26" y="3812629"/>
            <a:ext cx="6380627" cy="279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9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4CDB-ADD4-4FA8-ADD1-7CC2655D1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Arial    "/>
              </a:rPr>
              <a:t>Appendix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2A037B-3170-2D8B-ED46-1B68ACFAC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66" y="2060782"/>
            <a:ext cx="4508001" cy="35661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E4DC4-CBA2-91EA-A8BB-65CA576EDE36}"/>
              </a:ext>
            </a:extLst>
          </p:cNvPr>
          <p:cNvSpPr txBox="1"/>
          <p:nvPr/>
        </p:nvSpPr>
        <p:spPr>
          <a:xfrm>
            <a:off x="0" y="6611779"/>
            <a:ext cx="70747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i="1" dirty="0">
                <a:solidFill>
                  <a:schemeClr val="tx1"/>
                </a:solidFill>
              </a:rPr>
              <a:t>Source: </a:t>
            </a:r>
            <a:r>
              <a:rPr lang="en-IN" sz="1000" i="1" dirty="0">
                <a:solidFill>
                  <a:schemeClr val="tx1"/>
                </a:solidFill>
              </a:rPr>
              <a:t>Sample: 245 monthly observations, Dec 2005 to Apr 2026</a:t>
            </a:r>
            <a:r>
              <a:rPr lang="en-US" sz="1000" i="1" dirty="0">
                <a:solidFill>
                  <a:schemeClr val="tx1"/>
                </a:solidFill>
              </a:rPr>
              <a:t>, Bloomberg; Yahoo Finance; CRISIL analysis.</a:t>
            </a:r>
            <a:endParaRPr lang="en-IN" sz="1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992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1365</Words>
  <Application>Microsoft Office PowerPoint</Application>
  <PresentationFormat>Widescreen</PresentationFormat>
  <Paragraphs>154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 </vt:lpstr>
      <vt:lpstr>Arial   </vt:lpstr>
      <vt:lpstr>Arial    </vt:lpstr>
      <vt:lpstr>Calibri</vt:lpstr>
      <vt:lpstr>Calibri Light</vt:lpstr>
      <vt:lpstr>Office Theme</vt:lpstr>
      <vt:lpstr>Developed Markets Equity Scorecard A Systematic Framework for 3 - 6 Month Relative Market Performance</vt:lpstr>
      <vt:lpstr>Developed Markets Scorecard A systematic framework for relative 3-6 month equity performance </vt:lpstr>
      <vt:lpstr>Signal Selection &amp; Predictive Power Which of the four signals actually forecast forward returns?</vt:lpstr>
      <vt:lpstr>PowerPoint Presentation</vt:lpstr>
      <vt:lpstr>Backtest Results Does the ranking actually predict what happens next?</vt:lpstr>
      <vt:lpstr>Current Ranking &amp; Investment Recommendation Translating the scorecard into portfolio positioning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Renu .</dc:creator>
  <cp:lastModifiedBy>Renu .</cp:lastModifiedBy>
  <cp:revision>4</cp:revision>
  <dcterms:created xsi:type="dcterms:W3CDTF">2026-09-27T18:16:56Z</dcterms:created>
  <dcterms:modified xsi:type="dcterms:W3CDTF">2026-09-28T03:02:30Z</dcterms:modified>
</cp:coreProperties>
</file>